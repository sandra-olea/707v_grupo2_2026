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dGdFVzEwIBJbl7APHAdHv93mI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829800" y="566928"/>
            <a:ext cx="914400" cy="914400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646920" y="384048"/>
            <a:ext cx="1280160" cy="1280160"/>
          </a:xfrm>
          <a:prstGeom prst="ellipse">
            <a:avLst/>
          </a:prstGeom>
          <a:noFill/>
          <a:ln cap="flat" cmpd="sng" w="15225">
            <a:solidFill>
              <a:srgbClr val="C99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ills_cover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29085"/>
            <a:ext cx="12191695" cy="342891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987552" y="117043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PRESENTACIÓN PORTAFOLIO DE TÍTULO  —  CAPSTONE</a:t>
            </a:r>
            <a:endParaRPr/>
          </a:p>
        </p:txBody>
      </p:sp>
      <p:pic>
        <p:nvPicPr>
          <p:cNvPr descr="logo.png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552" y="1645920"/>
            <a:ext cx="932688" cy="9326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2121408" y="1517904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60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005840" y="276148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Gestión ganadera inteligente, incluso sin internet.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005840" y="32186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Aplicación móvil ERP  ·  Offline-First  ·  Trazabilidad QR  ·  Inteligencia de Negocio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05840" y="3730752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Ingeniería Informática — Escuela de Informática y Telecomunicaciones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DUOC UC · Sede Puente Alto · 2026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Equipo IngeTeam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PROYECTO DE TÍTULO · CAPSTONE 2026</a:t>
            </a:r>
            <a:endParaRPr/>
          </a:p>
        </p:txBody>
      </p:sp>
      <p:pic>
        <p:nvPicPr>
          <p:cNvPr descr="hills_footer.png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Integrantes del Proyecto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· 13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87171" y="1993392"/>
            <a:ext cx="2002536" cy="2514600"/>
          </a:xfrm>
          <a:prstGeom prst="roundRect">
            <a:avLst>
              <a:gd fmla="val 9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267815" y="2304288"/>
            <a:ext cx="841248" cy="841248"/>
          </a:xfrm>
          <a:prstGeom prst="ellipse">
            <a:avLst/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267815" y="2304288"/>
            <a:ext cx="8412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MC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60323" y="3346704"/>
            <a:ext cx="18562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Marilyn Correa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60323" y="3712464"/>
            <a:ext cx="18562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Jefa de Proyecto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Arquitectura TI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2890875" y="1993392"/>
            <a:ext cx="2002536" cy="2514600"/>
          </a:xfrm>
          <a:prstGeom prst="roundRect">
            <a:avLst>
              <a:gd fmla="val 9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471519" y="2304288"/>
            <a:ext cx="841248" cy="841248"/>
          </a:xfrm>
          <a:prstGeom prst="ellipse">
            <a:avLst/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471519" y="2304288"/>
            <a:ext cx="8412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FQ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964027" y="3346704"/>
            <a:ext cx="18562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Fabián Quiroz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964027" y="3712464"/>
            <a:ext cx="18562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Analista Programador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Analítica &amp; BI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5094579" y="1993392"/>
            <a:ext cx="2002536" cy="2514600"/>
          </a:xfrm>
          <a:prstGeom prst="roundRect">
            <a:avLst>
              <a:gd fmla="val 9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5675223" y="2304288"/>
            <a:ext cx="841248" cy="841248"/>
          </a:xfrm>
          <a:prstGeom prst="ellipse">
            <a:avLst/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5675223" y="2304288"/>
            <a:ext cx="8412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5167731" y="3346704"/>
            <a:ext cx="18562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Manuel Otaiza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167731" y="3712464"/>
            <a:ext cx="18562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Administrador de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de Datos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7298283" y="1993392"/>
            <a:ext cx="2002536" cy="2514600"/>
          </a:xfrm>
          <a:prstGeom prst="roundRect">
            <a:avLst>
              <a:gd fmla="val 9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878927" y="2304288"/>
            <a:ext cx="841248" cy="841248"/>
          </a:xfrm>
          <a:prstGeom prst="ellipse">
            <a:avLst/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7878927" y="2304288"/>
            <a:ext cx="8412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SB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7371435" y="3346704"/>
            <a:ext cx="18562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Sergio Baeza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371435" y="3712464"/>
            <a:ext cx="18562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Analista de Calidad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 &amp; Testing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9501987" y="1993392"/>
            <a:ext cx="2002536" cy="2514600"/>
          </a:xfrm>
          <a:prstGeom prst="roundRect">
            <a:avLst>
              <a:gd fmla="val 9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10082631" y="2304288"/>
            <a:ext cx="841248" cy="841248"/>
          </a:xfrm>
          <a:prstGeom prst="ellipse">
            <a:avLst/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0082631" y="2304288"/>
            <a:ext cx="8412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FB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9575139" y="3346704"/>
            <a:ext cx="18562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Felipe Berríos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9575139" y="3712464"/>
            <a:ext cx="18562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Diseñador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· UX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777240" y="4956048"/>
            <a:ext cx="10634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Equipo IngeTeam — Ingeniería Informática · DUOC UC, Sede Puente Alto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DESCRIPCIÓN DEL PROYECTO</a:t>
            </a:r>
            <a:endParaRPr/>
          </a:p>
        </p:txBody>
      </p:sp>
      <p:pic>
        <p:nvPicPr>
          <p:cNvPr descr="hills_footer.png" id="137" name="Google Shape;13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Descripción del Proyecto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· 13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777240" y="1810512"/>
            <a:ext cx="4709160" cy="4041648"/>
          </a:xfrm>
          <a:prstGeom prst="roundRect">
            <a:avLst>
              <a:gd fmla="val 5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033271" y="1920240"/>
            <a:ext cx="42063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Problemática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 señal no hay registro: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los ERP tradicionales exigen internet continuo, inviable en potreros rurales.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Papel y planillas aisladas: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errores de transcripción y pérdida del historial clínico del ganado.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Identificación manual de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crotales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inspección lenta y errores de asignación por animal.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Cero analítica: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imposible medir rentabilidad, morbilidad o proyectar insumos del negocio.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742432" y="3566160"/>
            <a:ext cx="713232" cy="566928"/>
          </a:xfrm>
          <a:prstGeom prst="chevron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702552" y="1810512"/>
            <a:ext cx="4709160" cy="4041648"/>
          </a:xfrm>
          <a:prstGeom prst="roundRect">
            <a:avLst>
              <a:gd fmla="val 5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6958584" y="1920240"/>
            <a:ext cx="4206240" cy="3822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Propuesta de Solución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AgroTech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aplicación móvil SaaS que digitaliza la operación ganadera de punta a punta.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Offline-First + QR: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escaneo de crotales y registro en terreno sin internet; sincronización automática al volver la señal.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Gestión veterinaria: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historial clínico, vacunas, dietas y pesajes centralizados por animal o lote.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</a:t>
            </a:r>
            <a:r>
              <a:rPr b="1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 integrado: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KPIs de producción y salud, proyección de insumos y reportes PDF / Excel.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 GENERAL Y ESPECÍFICOS</a:t>
            </a:r>
            <a:endParaRPr/>
          </a:p>
        </p:txBody>
      </p:sp>
      <p:pic>
        <p:nvPicPr>
          <p:cNvPr descr="hills_footer.png" id="153" name="Google Shape;1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Objetivos del Proyecto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· 13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777240" y="1645920"/>
            <a:ext cx="10634472" cy="1298448"/>
          </a:xfrm>
          <a:prstGeom prst="roundRect">
            <a:avLst>
              <a:gd fmla="val 7000" name="adj"/>
            </a:avLst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143000" y="1792224"/>
            <a:ext cx="9902952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 GENERAL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Desarrollar e implementar AgroTech, una aplicación móvil SaaS con arquitectura Offline-First que digitalice la gestión ganadera: trazabilidad del ganado mediante códigos QR, control sanitario-productivo e inteligencia de negocio para decidir con datos.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95528" y="312724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Objetivos Específicos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777240" y="3493008"/>
            <a:ext cx="2551176" cy="2304288"/>
          </a:xfrm>
          <a:prstGeom prst="roundRect">
            <a:avLst>
              <a:gd fmla="val 7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978408" y="3675887"/>
            <a:ext cx="2148840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 móvil multiplataforma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Construir en React Native una interfaz única y adaptativa para los 6 roles de usuario del sistema.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3474720" y="3493008"/>
            <a:ext cx="2551176" cy="2304288"/>
          </a:xfrm>
          <a:prstGeom prst="roundRect">
            <a:avLst>
              <a:gd fmla="val 7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3675888" y="3675887"/>
            <a:ext cx="2148840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Offline-First y sincronización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Operar con base local SQLite y sincronizar los datos de forma asincrónica y bidireccional (PowerSync).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6172200" y="3493008"/>
            <a:ext cx="2551176" cy="2304288"/>
          </a:xfrm>
          <a:prstGeom prst="roundRect">
            <a:avLst>
              <a:gd fmla="val 7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373368" y="3675887"/>
            <a:ext cx="2148840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Trazabilidad óptica QR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Identificar cada animal en menos de 5 segundos y desplegar su ficha técnica en pleno terreno.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8869680" y="3493008"/>
            <a:ext cx="2551176" cy="2304288"/>
          </a:xfrm>
          <a:prstGeom prst="roundRect">
            <a:avLst>
              <a:gd fmla="val 7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9070848" y="3675887"/>
            <a:ext cx="2148840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Módulo sanitario y BI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Registrar el historial veterinario y generar KPIs, gráficos y reportes exportables (PDF / Excel).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ALCANCES DEL SISTEMA</a:t>
            </a:r>
            <a:endParaRPr/>
          </a:p>
        </p:txBody>
      </p:sp>
      <p:pic>
        <p:nvPicPr>
          <p:cNvPr descr="hills_footer.png" id="175" name="Google Shape;1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Alcances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· 13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777240" y="1755648"/>
            <a:ext cx="5138928" cy="4096512"/>
          </a:xfrm>
          <a:prstGeom prst="roundRect">
            <a:avLst>
              <a:gd fmla="val 5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033271" y="1883664"/>
            <a:ext cx="4626864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Qué hace el sistema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 de acceso con 6 roles y seguridad multi-empresa (RLS).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Mantenedores de empresas, usuarios, fincas, animales, especies, ventas, producción, salud, movimientos y alimentación.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 y escanea códigos QR con ficha técnica inmediata del animal.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 100% offline en terreno y sincroniza al recuperar la señal.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BI con KPIs y análisis de producción por especie / raza.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8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Reportes exportables a PDF y Excel + suscripción con pasarela de pago.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6281928" y="1755648"/>
            <a:ext cx="5138928" cy="4096512"/>
          </a:xfrm>
          <a:prstGeom prst="roundRect">
            <a:avLst>
              <a:gd fmla="val 5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6537960" y="1883664"/>
            <a:ext cx="4626864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Qué no hace  (versión 1)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integra básculas de pesaje por Bluetooth: el peso se digita en la app.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usa lectura RFID / EID de crotales electrónicos.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incluye calendarios predictivos de salud animal.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incorpora georreferenciación GPS de potreros ni animales.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951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  </a:t>
            </a: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contempla cliente de escritorio: la operación es 100% móvil (smartphones y tablets).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Ítems excluidos declarados como requisitos futuros en el Informe 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USUARIOS DEL SISTEMA</a:t>
            </a:r>
            <a:endParaRPr/>
          </a:p>
        </p:txBody>
      </p:sp>
      <p:pic>
        <p:nvPicPr>
          <p:cNvPr descr="hills_footer.png"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Usuarios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795528" y="14630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Interfaz adaptativa: la aplicación muestra un mundo distinto según quién inicia sesión.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· 13</a:t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777240" y="2176272"/>
            <a:ext cx="3456432" cy="1572768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14983" y="2482596"/>
            <a:ext cx="128016" cy="128016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1252728" y="2395728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Administrador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Gestión de empresas suscriptoras (SaaS), parámetros globales y soporte de la plataforma.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361688" y="2176272"/>
            <a:ext cx="3456432" cy="1572768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99431" y="2482596"/>
            <a:ext cx="128016" cy="128016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4837175" y="2395728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Dueño / Ganadero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Visión gerencial: dashboard BI, reportes exportables y control total de su hacienda.</a:t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7946136" y="2176272"/>
            <a:ext cx="3456432" cy="1572768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183879" y="2482596"/>
            <a:ext cx="128016" cy="128016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8421624" y="2395728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Capataz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Supervisión de terreno: potreros, bitácoras del personal y validación de traslados.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777240" y="3986783"/>
            <a:ext cx="3456432" cy="1572768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014983" y="4293107"/>
            <a:ext cx="128016" cy="128016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1252728" y="4206240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Trabajador de campo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Interfaz simple de botones grandes; opera escaneando QR en el corral, incluso con guantes.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361688" y="3986783"/>
            <a:ext cx="3456432" cy="1572768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599431" y="4293107"/>
            <a:ext cx="128016" cy="128016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4837175" y="4206240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Veterinario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Historial clínico, tratamientos, vacunas, pesajes y pautas de alimentación por animal o lote.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7946136" y="3986783"/>
            <a:ext cx="3456432" cy="1572768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183879" y="4293107"/>
            <a:ext cx="128016" cy="128016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8421624" y="4206240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Cliente / Comprador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Acceso de lectura al catálogo de venta y a la trazabilidad de los lotes adquiridos.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REQUERIMIENTOS DEL SISTEMA</a:t>
            </a:r>
            <a:endParaRPr/>
          </a:p>
        </p:txBody>
      </p:sp>
      <p:pic>
        <p:nvPicPr>
          <p:cNvPr descr="hills_footer.png"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Lista de Requerimientos</a:t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795528" y="14630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 requerimientos levantados y validados en la Planilla de Requerimientos.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· 13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77240" y="1874519"/>
            <a:ext cx="6144768" cy="3977639"/>
          </a:xfrm>
          <a:prstGeom prst="roundRect">
            <a:avLst>
              <a:gd fmla="val 5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1033271" y="1984248"/>
            <a:ext cx="5632704" cy="3758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Funcionales</a:t>
            </a:r>
            <a:r>
              <a:rPr b="0" i="0" lang="en-US" sz="10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R.1 – R.19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Seguridad</a:t>
            </a:r>
            <a:r>
              <a:rPr b="1" i="0" lang="en-US" sz="95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R.1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Autenticación y control de acceso por roles.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Gestión / mantenedores</a:t>
            </a:r>
            <a:r>
              <a:rPr b="1" i="0" lang="en-US" sz="95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R.2 – R.8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Empresas, usuarios, fincas, ventas, producción, animales y especies.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Operación de campo</a:t>
            </a:r>
            <a:r>
              <a:rPr b="1" i="0" lang="en-US" sz="95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R.9 – R.12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Bitácora laboral, generación de QR, escaneo con cámara y ficha técnica rápida.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Sanidad y manejo</a:t>
            </a:r>
            <a:r>
              <a:rPr b="1" i="0" lang="en-US" sz="95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R.13 – R.15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Historial de salud, movimientos de ganado y control de alimentación.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Analítica y negocio</a:t>
            </a:r>
            <a:r>
              <a:rPr b="1" i="0" lang="en-US" sz="95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R.16 – R.19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de KPIs, análisis por especie, reportes PDF / Excel y pasarela de pago.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104888" y="1874519"/>
            <a:ext cx="4306824" cy="3977639"/>
          </a:xfrm>
          <a:prstGeom prst="roundRect">
            <a:avLst>
              <a:gd fmla="val 5000" name="adj"/>
            </a:avLst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7360920" y="1984248"/>
            <a:ext cx="3794760" cy="3758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Funcionales</a:t>
            </a:r>
            <a:r>
              <a:rPr b="0" i="0" lang="en-US" sz="1050" u="none" cap="none" strike="noStrike">
                <a:solidFill>
                  <a:srgbClr val="BCD2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R.20 – R.27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R.20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Arquitectura Offline-First (SQLite local).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R.21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Sincronización asincrónica al recuperar señal.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R.22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Lectura QR en ≤ 5 s bajo luz solar.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R.23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Seguridad y privacidad de los datos.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R.24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Compatibilidad Android 8+ / iOS 13+.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R.25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Transacciones en pantalla en ≤ 3 s.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R.26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Disponibilidad 99% y tolerancia a fallos.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9D8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R.27  </a:t>
            </a:r>
            <a:r>
              <a:rPr b="0" i="0" lang="en-US" sz="10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Escalabilidad del modelo de datos.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33" name="Google Shape;2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PROTOTIPADO DEL SISTEMA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Mockups del Sistema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795528" y="14630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Acceso y operación — flujo Empresa → Finca → Ganado → Animal, con código QR único por animal.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· 13</a:t>
            </a:r>
            <a:endParaRPr/>
          </a:p>
        </p:txBody>
      </p:sp>
      <p:pic>
        <p:nvPicPr>
          <p:cNvPr descr="img_001.png" id="240" name="Google Shape;2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747" y="1938528"/>
            <a:ext cx="4262409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02.png" id="241" name="Google Shape;2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0755" y="1938528"/>
            <a:ext cx="2142781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09.png" id="242" name="Google Shape;24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92136" y="1938528"/>
            <a:ext cx="4269812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47" name="Google Shape;2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PROTOTIPADO DEL SISTEMA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Mockups del Sistema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795528" y="14630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Gestión, sanidad y analítica — reportes exportables, vista del veterinario y panel del administrador.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· 13</a:t>
            </a:r>
            <a:endParaRPr/>
          </a:p>
        </p:txBody>
      </p:sp>
      <p:pic>
        <p:nvPicPr>
          <p:cNvPr descr="img_005.png" id="254" name="Google Shape;2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685" y="1938528"/>
            <a:ext cx="4328084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4.png" id="255" name="Google Shape;25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6370" y="1938528"/>
            <a:ext cx="4319221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6.png" id="256" name="Google Shape;25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4191" y="1938528"/>
            <a:ext cx="2047818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61" name="Google Shape;2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CRONOGRAMA DEL PROYECTO</a:t>
            </a:r>
            <a:endParaRPr/>
          </a:p>
        </p:txBody>
      </p:sp>
      <p:pic>
        <p:nvPicPr>
          <p:cNvPr descr="hills_footer.png" id="264" name="Google Shape;2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Hitos Importantes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795528" y="14630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 semanas de ejecución — del 10/08/2026 al 05/12/2026.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· 13</a:t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978408" y="4041648"/>
            <a:ext cx="1159136" cy="475488"/>
          </a:xfrm>
          <a:prstGeom prst="roundRect">
            <a:avLst>
              <a:gd fmla="val 22000" name="adj"/>
            </a:avLst>
          </a:prstGeom>
          <a:solidFill>
            <a:srgbClr val="9DBB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955547" y="4626864"/>
            <a:ext cx="12048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Planificación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– 23 ago</a:t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2183264" y="4041648"/>
            <a:ext cx="1159136" cy="475488"/>
          </a:xfrm>
          <a:prstGeom prst="roundRect">
            <a:avLst>
              <a:gd fmla="val 22000" name="adj"/>
            </a:avLst>
          </a:prstGeom>
          <a:solidFill>
            <a:srgbClr val="7FA3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2160404" y="4626864"/>
            <a:ext cx="12048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Análisis y Diseño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 ago – 7 sep</a:t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3388120" y="4041648"/>
            <a:ext cx="5376134" cy="475488"/>
          </a:xfrm>
          <a:prstGeom prst="roundRect">
            <a:avLst>
              <a:gd fmla="val 22000" name="adj"/>
            </a:avLst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3365260" y="4626864"/>
            <a:ext cx="542185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Desarrollo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sep – 9 nov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8809975" y="4041648"/>
            <a:ext cx="1761564" cy="475488"/>
          </a:xfrm>
          <a:prstGeom prst="roundRect">
            <a:avLst>
              <a:gd fmla="val 22000" name="adj"/>
            </a:avLst>
          </a:prstGeom>
          <a:solidFill>
            <a:srgbClr val="7FA3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8787115" y="4626864"/>
            <a:ext cx="18072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Pruebas y QA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– 30 nov</a:t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10617259" y="4041648"/>
            <a:ext cx="556708" cy="475488"/>
          </a:xfrm>
          <a:prstGeom prst="roundRect">
            <a:avLst>
              <a:gd fmla="val 22000" name="adj"/>
            </a:avLst>
          </a:prstGeom>
          <a:solidFill>
            <a:srgbClr val="9DBB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10324113" y="4626864"/>
            <a:ext cx="11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Cierre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– 5 dic</a:t>
            </a:r>
            <a:endParaRPr/>
          </a:p>
        </p:txBody>
      </p:sp>
      <p:cxnSp>
        <p:nvCxnSpPr>
          <p:cNvPr id="279" name="Google Shape;279;p10"/>
          <p:cNvCxnSpPr/>
          <p:nvPr/>
        </p:nvCxnSpPr>
        <p:spPr>
          <a:xfrm>
            <a:off x="3990549" y="2926080"/>
            <a:ext cx="0" cy="1161288"/>
          </a:xfrm>
          <a:prstGeom prst="straightConnector1">
            <a:avLst/>
          </a:prstGeom>
          <a:noFill/>
          <a:ln cap="flat" cmpd="sng" w="13950">
            <a:solidFill>
              <a:srgbClr val="B4BF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0"/>
          <p:cNvSpPr/>
          <p:nvPr/>
        </p:nvSpPr>
        <p:spPr>
          <a:xfrm>
            <a:off x="3899109" y="3968496"/>
            <a:ext cx="182880" cy="182880"/>
          </a:xfrm>
          <a:prstGeom prst="diamond">
            <a:avLst/>
          </a:prstGeom>
          <a:solidFill>
            <a:srgbClr val="C99B3F"/>
          </a:solidFill>
          <a:ln cap="flat" cmpd="sng" w="127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2847549" y="235915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Entrega 1 · Semana 5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Documentos de definición</a:t>
            </a:r>
            <a:endParaRPr/>
          </a:p>
        </p:txBody>
      </p:sp>
      <p:cxnSp>
        <p:nvCxnSpPr>
          <p:cNvPr id="282" name="Google Shape;282;p10"/>
          <p:cNvCxnSpPr/>
          <p:nvPr/>
        </p:nvCxnSpPr>
        <p:spPr>
          <a:xfrm>
            <a:off x="5797833" y="3584448"/>
            <a:ext cx="0" cy="502920"/>
          </a:xfrm>
          <a:prstGeom prst="straightConnector1">
            <a:avLst/>
          </a:prstGeom>
          <a:noFill/>
          <a:ln cap="flat" cmpd="sng" w="13950">
            <a:solidFill>
              <a:srgbClr val="B4BF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0"/>
          <p:cNvSpPr/>
          <p:nvPr/>
        </p:nvSpPr>
        <p:spPr>
          <a:xfrm>
            <a:off x="5706393" y="3968496"/>
            <a:ext cx="182880" cy="182880"/>
          </a:xfrm>
          <a:prstGeom prst="diamond">
            <a:avLst/>
          </a:prstGeom>
          <a:solidFill>
            <a:srgbClr val="C99B3F"/>
          </a:solidFill>
          <a:ln cap="flat" cmpd="sng" w="127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4654833" y="3017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Entrega 2 · Semana 8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 arquitectónico y prototipos</a:t>
            </a:r>
            <a:endParaRPr/>
          </a:p>
        </p:txBody>
      </p:sp>
      <p:cxnSp>
        <p:nvCxnSpPr>
          <p:cNvPr id="285" name="Google Shape;285;p10"/>
          <p:cNvCxnSpPr/>
          <p:nvPr/>
        </p:nvCxnSpPr>
        <p:spPr>
          <a:xfrm>
            <a:off x="9412403" y="2926080"/>
            <a:ext cx="0" cy="1161288"/>
          </a:xfrm>
          <a:prstGeom prst="straightConnector1">
            <a:avLst/>
          </a:prstGeom>
          <a:noFill/>
          <a:ln cap="flat" cmpd="sng" w="13950">
            <a:solidFill>
              <a:srgbClr val="B4BF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0"/>
          <p:cNvSpPr/>
          <p:nvPr/>
        </p:nvSpPr>
        <p:spPr>
          <a:xfrm>
            <a:off x="9320963" y="3968496"/>
            <a:ext cx="182880" cy="182880"/>
          </a:xfrm>
          <a:prstGeom prst="diamond">
            <a:avLst/>
          </a:prstGeom>
          <a:solidFill>
            <a:srgbClr val="C99B3F"/>
          </a:solidFill>
          <a:ln cap="flat" cmpd="sng" w="127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8269403" y="235915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Entrega 2.2 · Semana 14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Avance íntegro del desarrollo</a:t>
            </a:r>
            <a:endParaRPr/>
          </a:p>
        </p:txBody>
      </p:sp>
      <p:cxnSp>
        <p:nvCxnSpPr>
          <p:cNvPr id="288" name="Google Shape;288;p10"/>
          <p:cNvCxnSpPr/>
          <p:nvPr/>
        </p:nvCxnSpPr>
        <p:spPr>
          <a:xfrm>
            <a:off x="11128248" y="3584448"/>
            <a:ext cx="0" cy="502920"/>
          </a:xfrm>
          <a:prstGeom prst="straightConnector1">
            <a:avLst/>
          </a:prstGeom>
          <a:noFill/>
          <a:ln cap="flat" cmpd="sng" w="13950">
            <a:solidFill>
              <a:srgbClr val="B4BF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0"/>
          <p:cNvSpPr/>
          <p:nvPr/>
        </p:nvSpPr>
        <p:spPr>
          <a:xfrm>
            <a:off x="11036808" y="3968496"/>
            <a:ext cx="182880" cy="182880"/>
          </a:xfrm>
          <a:prstGeom prst="diamond">
            <a:avLst/>
          </a:prstGeom>
          <a:solidFill>
            <a:srgbClr val="C99B3F"/>
          </a:solidFill>
          <a:ln cap="flat" cmpd="sng" w="12700">
            <a:solidFill>
              <a:srgbClr val="FFF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9631375" y="3017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Entrega 3 · Semana 17-18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Entregables finales y cierre</a:t>
            </a:r>
            <a:endParaRPr/>
          </a:p>
        </p:txBody>
      </p:sp>
      <p:sp>
        <p:nvSpPr>
          <p:cNvPr id="291" name="Google Shape;291;p10"/>
          <p:cNvSpPr txBox="1"/>
          <p:nvPr/>
        </p:nvSpPr>
        <p:spPr>
          <a:xfrm>
            <a:off x="777240" y="5504688"/>
            <a:ext cx="10634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90 días de esfuerzo planificado (Matriz EDT)  ·  5 fases  ·  4 hitos de entrega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96" name="Google Shape;2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298" name="Google Shape;298;p11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PRESUPUESTO DEL PROYECTO</a:t>
            </a:r>
            <a:endParaRPr/>
          </a:p>
        </p:txBody>
      </p:sp>
      <p:pic>
        <p:nvPicPr>
          <p:cNvPr descr="hills_footer.png" id="299" name="Google Shape;2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Costos por Fase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· 13</a:t>
            </a:r>
            <a:endParaRPr/>
          </a:p>
        </p:txBody>
      </p:sp>
      <p:sp>
        <p:nvSpPr>
          <p:cNvPr id="303" name="Google Shape;303;p11"/>
          <p:cNvSpPr txBox="1"/>
          <p:nvPr/>
        </p:nvSpPr>
        <p:spPr>
          <a:xfrm>
            <a:off x="795528" y="1700784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Costo base por fase (Horas Hombre)</a:t>
            </a:r>
            <a:endParaRPr/>
          </a:p>
        </p:txBody>
      </p:sp>
      <p:sp>
        <p:nvSpPr>
          <p:cNvPr id="304" name="Google Shape;304;p11"/>
          <p:cNvSpPr txBox="1"/>
          <p:nvPr/>
        </p:nvSpPr>
        <p:spPr>
          <a:xfrm>
            <a:off x="777240" y="223113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Planificación</a:t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2724912" y="2212848"/>
            <a:ext cx="627238" cy="384048"/>
          </a:xfrm>
          <a:prstGeom prst="roundRect">
            <a:avLst>
              <a:gd fmla="val 25000" name="adj"/>
            </a:avLst>
          </a:prstGeom>
          <a:solidFill>
            <a:srgbClr val="5E8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3443590" y="223113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$1.552.000</a:t>
            </a:r>
            <a:endParaRPr/>
          </a:p>
        </p:txBody>
      </p:sp>
      <p:sp>
        <p:nvSpPr>
          <p:cNvPr id="307" name="Google Shape;307;p11"/>
          <p:cNvSpPr txBox="1"/>
          <p:nvPr/>
        </p:nvSpPr>
        <p:spPr>
          <a:xfrm>
            <a:off x="777240" y="285292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Análisis y Diseño</a:t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2724912" y="2834640"/>
            <a:ext cx="814763" cy="384048"/>
          </a:xfrm>
          <a:prstGeom prst="roundRect">
            <a:avLst>
              <a:gd fmla="val 25000" name="adj"/>
            </a:avLst>
          </a:prstGeom>
          <a:solidFill>
            <a:srgbClr val="5E8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3631115" y="28529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$2.016.000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777240" y="34747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Desarrollo</a:t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2724912" y="3456432"/>
            <a:ext cx="3246120" cy="384048"/>
          </a:xfrm>
          <a:prstGeom prst="roundRect">
            <a:avLst>
              <a:gd fmla="val 25000" name="adj"/>
            </a:avLst>
          </a:prstGeom>
          <a:solidFill>
            <a:srgbClr val="2E5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6062471" y="347472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$8.032.000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777240" y="4096511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Pruebas y QA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2724912" y="4078224"/>
            <a:ext cx="413847" cy="384048"/>
          </a:xfrm>
          <a:prstGeom prst="roundRect">
            <a:avLst>
              <a:gd fmla="val 25000" name="adj"/>
            </a:avLst>
          </a:prstGeom>
          <a:solidFill>
            <a:srgbClr val="5E8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3230199" y="409651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$1.024.000</a:t>
            </a:r>
            <a:endParaRPr/>
          </a:p>
        </p:txBody>
      </p:sp>
      <p:sp>
        <p:nvSpPr>
          <p:cNvPr id="316" name="Google Shape;316;p11"/>
          <p:cNvSpPr txBox="1"/>
          <p:nvPr/>
        </p:nvSpPr>
        <p:spPr>
          <a:xfrm>
            <a:off x="777240" y="471830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Implementación y Cierre</a:t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2724912" y="4700016"/>
            <a:ext cx="336251" cy="384048"/>
          </a:xfrm>
          <a:prstGeom prst="roundRect">
            <a:avLst>
              <a:gd fmla="val 25000" name="adj"/>
            </a:avLst>
          </a:prstGeom>
          <a:solidFill>
            <a:srgbClr val="5E8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3152603" y="471830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$832.000</a:t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795528" y="541324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Fuente: Matriz EDT — 90 días de esfuerzo distribuidos en 5 roles.</a:t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6967728" y="1700784"/>
            <a:ext cx="4443984" cy="4041648"/>
          </a:xfrm>
          <a:prstGeom prst="roundRect">
            <a:avLst>
              <a:gd fmla="val 6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7296912" y="1938528"/>
            <a:ext cx="3785615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Resumen económico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Costo base (Horas Hombre)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$13.456.000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Margen de utilidad (60%)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$8.073.600</a:t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7296912" y="3858768"/>
            <a:ext cx="3785615" cy="20116"/>
          </a:xfrm>
          <a:prstGeom prst="roundRect">
            <a:avLst>
              <a:gd fmla="val 16667" name="adj"/>
            </a:avLst>
          </a:prstGeom>
          <a:solidFill>
            <a:srgbClr val="DEDA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7296912" y="4023360"/>
            <a:ext cx="37856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PRECIO FINAL DEL PROYECTO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$21.529.600</a:t>
            </a:r>
            <a:r>
              <a:rPr b="0" i="0" lang="en-US" sz="11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CLP neto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Equipo de 5 personas · 17 semanas · estimación según Matriz EDT.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328" name="Google Shape;3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2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330" name="Google Shape;330;p12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 TECNOLÓGICO</a:t>
            </a:r>
            <a:endParaRPr/>
          </a:p>
        </p:txBody>
      </p:sp>
      <p:pic>
        <p:nvPicPr>
          <p:cNvPr descr="hills_footer.png" id="331" name="Google Shape;3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28"/>
            <a:ext cx="12191695" cy="114297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Tecnologías del Desarrollo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 txBox="1"/>
          <p:nvPr/>
        </p:nvSpPr>
        <p:spPr>
          <a:xfrm>
            <a:off x="795528" y="14630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 multiplataforma y gestionado en la nube: el esfuerzo se concentra en el producto, no en los servidores.</a:t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· 13</a:t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777240" y="2139696"/>
            <a:ext cx="3456432" cy="1645920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1014983" y="2304288"/>
            <a:ext cx="2980944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Native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MÓVIL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Aplicación multiplataforma (Android / iOS) con una sola base de código.</a:t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4361688" y="2139696"/>
            <a:ext cx="3456432" cy="1645920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4599431" y="2304288"/>
            <a:ext cx="2980944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Supabase · PostgreSQL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Y BD EN LA NUBE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DBaaS con autenticación, API RESTful y seguridad por fila (RLS) multi-empresa.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7946136" y="2139696"/>
            <a:ext cx="3456432" cy="1645920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8183879" y="2304288"/>
            <a:ext cx="2980944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 + PowerSync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MOTOR OFFLINE-FIRST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de datos local en el dispositivo y sincronización asincrónica bidireccional.</a:t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777240" y="4023360"/>
            <a:ext cx="3456432" cy="1645920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1014983" y="4187952"/>
            <a:ext cx="2980944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 · FastAPI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MICROSERVICIOS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Motor analítico del BI y resolución de conflictos durante la sincronización.</a:t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4361688" y="4023360"/>
            <a:ext cx="3456432" cy="1645920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4599431" y="4187952"/>
            <a:ext cx="2980944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Pandas · NumPy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ANALÍTICA DE DATOS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Cálculo de KPIs lácteos, morbilidad por raza y proyección de insumos.</a:t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7946136" y="4023360"/>
            <a:ext cx="3456432" cy="1645920"/>
          </a:xfrm>
          <a:prstGeom prst="roundRect">
            <a:avLst>
              <a:gd fmla="val 8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8183879" y="4187952"/>
            <a:ext cx="2980944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 · JSON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COMUNICACIÓN SEGURA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Intercambio cliente-nube cifrado (SSL/TLS) sobre APIs RESTful.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9D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352" name="Google Shape;3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 txBox="1"/>
          <p:nvPr/>
        </p:nvSpPr>
        <p:spPr>
          <a:xfrm>
            <a:off x="795528" y="27432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</a:t>
            </a:r>
            <a:r>
              <a:rPr b="1" i="0" lang="en-US" sz="1300" u="none" cap="none" strike="noStrike">
                <a:solidFill>
                  <a:srgbClr val="C99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</a:t>
            </a:r>
            <a:endParaRPr/>
          </a:p>
        </p:txBody>
      </p:sp>
      <p:sp>
        <p:nvSpPr>
          <p:cNvPr id="354" name="Google Shape;354;p13"/>
          <p:cNvSpPr txBox="1"/>
          <p:nvPr/>
        </p:nvSpPr>
        <p:spPr>
          <a:xfrm>
            <a:off x="630936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CONCLUSIÓN</a:t>
            </a:r>
            <a:endParaRPr/>
          </a:p>
        </p:txBody>
      </p:sp>
      <p:sp>
        <p:nvSpPr>
          <p:cNvPr id="355" name="Google Shape;355;p13"/>
          <p:cNvSpPr txBox="1"/>
          <p:nvPr/>
        </p:nvSpPr>
        <p:spPr>
          <a:xfrm>
            <a:off x="777240" y="749808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Conclusión</a:t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95528" y="1344168"/>
            <a:ext cx="658368" cy="64008"/>
          </a:xfrm>
          <a:prstGeom prst="roundRect">
            <a:avLst>
              <a:gd fmla="val 50000" name="adj"/>
            </a:avLst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11018520" y="6473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· 13</a:t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10378440" y="3017520"/>
            <a:ext cx="566928" cy="566928"/>
          </a:xfrm>
          <a:prstGeom prst="ellipse">
            <a:avLst/>
          </a:prstGeom>
          <a:solidFill>
            <a:srgbClr val="C99B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ills_cover.png" id="359" name="Google Shape;3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29085"/>
            <a:ext cx="12191695" cy="342891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3"/>
          <p:cNvSpPr txBox="1"/>
          <p:nvPr/>
        </p:nvSpPr>
        <p:spPr>
          <a:xfrm>
            <a:off x="1371600" y="1700784"/>
            <a:ext cx="9445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A34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AgroTech acerca el mundo ERP al campo: una sola aplicación móvil que funciona sin internet, identifica a cada animal con un código QR y convierte los registros del corral en decisiones de negocio.</a:t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777240" y="2999232"/>
            <a:ext cx="3456432" cy="969264"/>
          </a:xfrm>
          <a:prstGeom prst="roundRect">
            <a:avLst>
              <a:gd fmla="val 12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996695" y="3127248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Fase 1 completada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Acta, requerimientos, ERS, casos de uso, EDT, Carta Gantt y mockups.</a:t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4361688" y="2999232"/>
            <a:ext cx="3456432" cy="969264"/>
          </a:xfrm>
          <a:prstGeom prst="roundRect">
            <a:avLst>
              <a:gd fmla="val 12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4581144" y="3127248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Siguiente paso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 arquitectónico y desarrollo de los 9 módulos del sistema.</a:t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7946136" y="2999232"/>
            <a:ext cx="3456432" cy="969264"/>
          </a:xfrm>
          <a:prstGeom prst="roundRect">
            <a:avLst>
              <a:gd fmla="val 12000" name="adj"/>
            </a:avLst>
          </a:prstGeom>
          <a:solidFill>
            <a:srgbClr val="FFFDF7"/>
          </a:solidFill>
          <a:ln cap="flat" cmpd="sng" w="12700">
            <a:solidFill>
              <a:srgbClr val="DEDA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8165592" y="3127248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Producción el 05/12/2026, dentro del alcance y del presupuesto.</a:t>
            </a:r>
            <a:endParaRPr/>
          </a:p>
        </p:txBody>
      </p:sp>
      <p:sp>
        <p:nvSpPr>
          <p:cNvPr id="367" name="Google Shape;367;p13"/>
          <p:cNvSpPr txBox="1"/>
          <p:nvPr/>
        </p:nvSpPr>
        <p:spPr>
          <a:xfrm>
            <a:off x="777240" y="4224528"/>
            <a:ext cx="10634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E5B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¡Gracias!</a:t>
            </a:r>
            <a:r>
              <a:rPr b="0" i="0" lang="en-US" sz="1100" u="none" cap="none" strike="noStrike">
                <a:solidFill>
                  <a:srgbClr val="6E7B6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Equipo IngeTeam · DUOC UC ·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Equipo IngeTeam</dc:creator>
</cp:coreProperties>
</file>